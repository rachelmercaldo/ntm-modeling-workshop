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356" autoAdjust="0"/>
  </p:normalViewPr>
  <p:slideViewPr>
    <p:cSldViewPr snapToGrid="0">
      <p:cViewPr varScale="1">
        <p:scale>
          <a:sx n="90" d="100"/>
          <a:sy n="90" d="100"/>
        </p:scale>
        <p:origin x="13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ED413-E6C6-4370-A6FD-8D439BFE5D9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37C541-2C5A-4965-8602-AA8B5FF0D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6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0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Ppm = parts per million</a:t>
            </a:r>
          </a:p>
          <a:p>
            <a:r>
              <a:rPr lang="en-US" dirty="0"/>
              <a:t>Ugpm3 = ug/m3 or micrograms per cubic meter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01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5B4D1-D0B1-3364-F282-8FC837D3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979D5-06E3-5A9F-E3C0-D413A685C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10B43-F690-5918-F4D1-AB09DE4AD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Ppm = parts per million</a:t>
            </a:r>
          </a:p>
          <a:p>
            <a:r>
              <a:rPr lang="en-US" dirty="0"/>
              <a:t>Ugpm3 = ug/m3 or micrograms per cubic meter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ECE5-76B0-1B0E-EAC6-1C64704C6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13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3422-B60B-25D3-9BFC-59871503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38B4-BF3A-6B37-E7AC-875B6100F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E3FDD-3043-84FB-F2A1-290F0785A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Ppm = parts per million</a:t>
            </a:r>
          </a:p>
          <a:p>
            <a:r>
              <a:rPr lang="en-US" dirty="0"/>
              <a:t>Ugpm3 = ug/m3 or micrograms per cubic meter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8CA9B-F0D3-F7B6-094E-FF5E5842C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87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7C541-2C5A-4965-8602-AA8B5FF0D4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7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2F86-34FD-97A0-A68C-B457B0C3C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48CD8-230D-3C68-7EDF-E2EED6383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65AD1-28FA-6446-BEED-5F74D9CE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55347-4F86-5339-4C31-C4936D79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C1CA-5A59-AA5B-AA5B-B72ABB0E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9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052B-D2D2-6E73-772F-DEFD98C7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D4C1-3B96-817B-8781-A1BADCEC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28647-FC97-64C9-0C5D-5219E0B6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3FAB2-EB34-B705-3B22-6F9B71C5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9F939-F138-951A-5F01-9B118FBB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9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BDD8F-720E-E164-36C1-D500DB9B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32FC7-A889-8423-1231-3C5AD67A3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E70CD-E77D-E6ED-21A6-3565CCE8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4823F-8CC4-78D6-68D7-303CDAEA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C2B5E-58C9-E36D-C020-31CB92A5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5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5F18-7FA6-B466-01FA-1E3BA1EC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0E221-92A4-FA84-5930-166E5BAC6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3E2AF-EAA5-16AD-4C6C-7C407643E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40B50-05F4-5BDD-9830-8E473271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071A7-696F-B207-1D03-163062F5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3EC59-F1B2-9BEC-787C-E2173EED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B54E-D998-C2EC-E81C-8B18B213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0DA82-63B0-9652-CDED-0FB5A59CA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03EE0-1592-DB0B-8EC4-1769894B4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4F7C6-1DF8-6430-AD82-EBDB31028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68CA2-7C34-3325-1183-AC43736B7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671C6-7038-9C18-B471-97F7D736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5B2F2-EF9F-6E54-6CE4-9363702E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288EB-ECFD-8DE8-1717-75520FFA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2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82BA-5181-5BE7-7EF0-C40B1730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9183C7-0E03-B88A-C47D-A7D96EF3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A0C48-98EC-3AC9-7561-7B61BA3F2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D75CC-E9D4-9EF9-9806-E2A7DD50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22032-F6A0-3921-360B-7F10DB96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2FF36-93F8-FDDB-9994-43E67E22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11567-DA86-DC3B-BADC-CC6700B9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AA4-387E-1423-A37E-85E42C6B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EB82E-EC87-C6A5-467A-CC6C3320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47ED7-83D0-B966-96F2-7FDB54BC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C5D66-E332-35FD-498E-6C1C9112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992FA-E84A-B174-6EDD-D162DE6F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540B7-55F9-26D6-A30B-55BDBAE2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0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8C19-3B21-E64E-3A32-C1CC709E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F3F97-C436-9BFE-0D3C-8A9C48222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B292F-451D-E98F-856B-A1DEC0A7E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EECC3-DA98-3F97-B193-FFC883E3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5181-EE65-1275-3679-85CF1D79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68DF2-3457-E353-4959-D1D2E849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6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E349-C376-8972-F8A6-64D7629D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63217-5418-CE51-E614-AC19F0B21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51B1-B232-AED6-C13F-9AF91DF8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40AF-5DA6-E1BA-A98D-03B048F27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D4D0B-415A-065B-E08B-67380E03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1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09C3D-42A0-FAB5-7FBB-66D8F7FB6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3041D-8380-CA3D-C227-CE6F1BFDC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FB9F-FDCC-F058-8164-3299168A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E262D-0CC1-F500-3111-23E35A34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43ED-22B0-117B-D276-ACBBC102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5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4787B-8FA6-7E2C-DFC0-7AF11E84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61C9A-CA83-9109-81E5-05CB109C1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D8776-7294-7AAD-FBA1-B25DB6B17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8A51A-114E-4768-A492-1C5663A0A0BB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77B9A-E0D9-5A38-953D-260576135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0780D-E533-FE01-AE51-0135D5CDC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72E1D-A0EE-402B-9B44-5CED3BF61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0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rachelmercaldo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C175-03E6-0AEA-6B0F-ABDC02C47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2650" y="868362"/>
            <a:ext cx="535305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Weather Source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183EB-9E31-6938-824F-4503280F7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0994" y="4040188"/>
            <a:ext cx="3916361" cy="1655762"/>
          </a:xfrm>
        </p:spPr>
        <p:txBody>
          <a:bodyPr/>
          <a:lstStyle/>
          <a:p>
            <a:r>
              <a:rPr lang="en-US" dirty="0"/>
              <a:t>NTM Modeling Workshop</a:t>
            </a:r>
          </a:p>
          <a:p>
            <a:r>
              <a:rPr lang="en-US" dirty="0"/>
              <a:t>Day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C4462-A980-0B1E-01C9-9FC627C8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" y="4167432"/>
            <a:ext cx="4933950" cy="2690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C47212-CBF9-4DB5-DCBC-2CDA1FA8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0"/>
            <a:ext cx="4933950" cy="4552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7DB52A-7660-CDDB-AC93-FEF025707631}"/>
              </a:ext>
            </a:extLst>
          </p:cNvPr>
          <p:cNvSpPr txBox="1"/>
          <p:nvPr/>
        </p:nvSpPr>
        <p:spPr>
          <a:xfrm>
            <a:off x="5487498" y="5620306"/>
            <a:ext cx="630335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These </a:t>
            </a:r>
            <a:r>
              <a:rPr lang="en-US" sz="1400" dirty="0"/>
              <a:t>s</a:t>
            </a:r>
            <a:r>
              <a:rPr lang="en-US" sz="1400"/>
              <a:t>lides </a:t>
            </a:r>
            <a:r>
              <a:rPr lang="en-US" sz="1400" dirty="0"/>
              <a:t>are for use by </a:t>
            </a:r>
            <a:r>
              <a:rPr lang="en-US" sz="1400" dirty="0" err="1"/>
              <a:t>eASIA</a:t>
            </a:r>
            <a:r>
              <a:rPr lang="en-US" sz="1400" dirty="0"/>
              <a:t> JRP participants for educational purposes only. No slide or portions of slides can be copied or used in presentations, publications, or other public work without written permission of the author. </a:t>
            </a:r>
          </a:p>
        </p:txBody>
      </p:sp>
    </p:spTree>
    <p:extLst>
      <p:ext uri="{BB962C8B-B14F-4D97-AF65-F5344CB8AC3E}">
        <p14:creationId xmlns:p14="http://schemas.microsoft.com/office/powerpoint/2010/main" val="273653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F869-07DA-FEBD-2503-0D7BD203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0" y="158091"/>
            <a:ext cx="10515600" cy="1325563"/>
          </a:xfrm>
        </p:spPr>
        <p:txBody>
          <a:bodyPr/>
          <a:lstStyle/>
          <a:p>
            <a:r>
              <a:rPr lang="en-US" dirty="0"/>
              <a:t>Why Weather Source?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A0D7F-F433-4A73-1F78-ADF2D33E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347"/>
            <a:ext cx="10515600" cy="4822616"/>
          </a:xfrm>
        </p:spPr>
        <p:txBody>
          <a:bodyPr>
            <a:normAutofit/>
          </a:bodyPr>
          <a:lstStyle/>
          <a:p>
            <a:r>
              <a:rPr lang="en-US" dirty="0"/>
              <a:t>Most weather/climate data sources are based on airport weather station records</a:t>
            </a:r>
          </a:p>
          <a:p>
            <a:endParaRPr lang="en-US" dirty="0"/>
          </a:p>
          <a:p>
            <a:r>
              <a:rPr lang="en-US" dirty="0"/>
              <a:t>Weather Source’s OnPoint Platform combines data from multiple sources</a:t>
            </a:r>
          </a:p>
          <a:p>
            <a:pPr lvl="1"/>
            <a:r>
              <a:rPr lang="en-US" dirty="0"/>
              <a:t>Airport observation stations</a:t>
            </a:r>
          </a:p>
          <a:p>
            <a:pPr lvl="1"/>
            <a:r>
              <a:rPr lang="en-US" dirty="0"/>
              <a:t>Satellite </a:t>
            </a:r>
          </a:p>
          <a:p>
            <a:pPr lvl="2"/>
            <a:r>
              <a:rPr lang="en-US" dirty="0"/>
              <a:t>GOES 16 &amp; 17, POES, TRMM</a:t>
            </a:r>
          </a:p>
          <a:p>
            <a:pPr lvl="1"/>
            <a:r>
              <a:rPr lang="en-US" dirty="0"/>
              <a:t>Radar</a:t>
            </a:r>
          </a:p>
          <a:p>
            <a:pPr lvl="1"/>
            <a:r>
              <a:rPr lang="en-US" dirty="0"/>
              <a:t>Local sensor data</a:t>
            </a:r>
          </a:p>
        </p:txBody>
      </p:sp>
    </p:spTree>
    <p:extLst>
      <p:ext uri="{BB962C8B-B14F-4D97-AF65-F5344CB8AC3E}">
        <p14:creationId xmlns:p14="http://schemas.microsoft.com/office/powerpoint/2010/main" val="167011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F56D-4F55-D29B-6D2B-0E04EA3D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114B-2F9F-AD7C-1426-6B668B5B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0" y="158091"/>
            <a:ext cx="10515600" cy="1325563"/>
          </a:xfrm>
        </p:spPr>
        <p:txBody>
          <a:bodyPr/>
          <a:lstStyle/>
          <a:p>
            <a:r>
              <a:rPr lang="en-US" dirty="0"/>
              <a:t>Why Weather Source?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70D06-4C52-9E2D-61C9-153DDB38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347"/>
            <a:ext cx="10515600" cy="482261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Most weather/climate data sources are based on airport weather station records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Weather Source’s OnPoint Platform combines data from multiple sources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Airport observation stations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Satellite </a:t>
            </a:r>
          </a:p>
          <a:p>
            <a:pPr lvl="2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GOES 16 &amp; 17, POES, TRMM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Radar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Local sensor data</a:t>
            </a:r>
          </a:p>
          <a:p>
            <a:r>
              <a:rPr lang="en-US" dirty="0"/>
              <a:t>The OnPoint Platform unifies data from all sources, and stages the data on Weather Source’s OnPoint Grid</a:t>
            </a:r>
          </a:p>
          <a:p>
            <a:r>
              <a:rPr lang="en-US" dirty="0"/>
              <a:t>The OnPoint Grid is a globally consistent grid that covers every land mass in the world and up to 200 miles offshore</a:t>
            </a:r>
          </a:p>
        </p:txBody>
      </p:sp>
    </p:spTree>
    <p:extLst>
      <p:ext uri="{BB962C8B-B14F-4D97-AF65-F5344CB8AC3E}">
        <p14:creationId xmlns:p14="http://schemas.microsoft.com/office/powerpoint/2010/main" val="104787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37B3-94C3-6809-9B57-42C29E4C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B71D-5FE1-C814-32A7-AAC7CBD6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0" y="158091"/>
            <a:ext cx="10515600" cy="1325563"/>
          </a:xfrm>
        </p:spPr>
        <p:txBody>
          <a:bodyPr/>
          <a:lstStyle/>
          <a:p>
            <a:r>
              <a:rPr lang="en-US" dirty="0"/>
              <a:t>Why Weather Source?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D12AF-5D84-1787-3E3B-D4F86F148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347"/>
            <a:ext cx="10515600" cy="482261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Weather Source products are globally consistent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All the countries in the e-ASIA JRP study can use weather/climate predictors generated through the same process, eliminating one source of variation between our analyses</a:t>
            </a:r>
          </a:p>
        </p:txBody>
      </p:sp>
    </p:spTree>
    <p:extLst>
      <p:ext uri="{BB962C8B-B14F-4D97-AF65-F5344CB8AC3E}">
        <p14:creationId xmlns:p14="http://schemas.microsoft.com/office/powerpoint/2010/main" val="242960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9882-8254-BBFE-73B7-91577A9A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included?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F64-1759-F692-345D-083ABB378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20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Historical meteorological “actuals”</a:t>
            </a:r>
          </a:p>
          <a:p>
            <a:r>
              <a:rPr lang="en-US" dirty="0"/>
              <a:t>Historical climatology</a:t>
            </a:r>
          </a:p>
          <a:p>
            <a:pPr lvl="1"/>
            <a:r>
              <a:rPr lang="en-US" dirty="0"/>
              <a:t>“Baseline” data </a:t>
            </a:r>
          </a:p>
          <a:p>
            <a:r>
              <a:rPr lang="en-US" dirty="0"/>
              <a:t>Historical severe weather</a:t>
            </a:r>
          </a:p>
          <a:p>
            <a:pPr lvl="1"/>
            <a:r>
              <a:rPr lang="en-US" dirty="0"/>
              <a:t>0/1 variable if severe event occurred</a:t>
            </a:r>
          </a:p>
          <a:p>
            <a:r>
              <a:rPr lang="en-US" dirty="0"/>
              <a:t>Land use</a:t>
            </a:r>
          </a:p>
          <a:p>
            <a:r>
              <a:rPr lang="en-US" dirty="0"/>
              <a:t>Air quality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Climate projections</a:t>
            </a:r>
          </a:p>
          <a:p>
            <a:r>
              <a:rPr lang="en-US" dirty="0"/>
              <a:t>Severe event projections (probabilities)</a:t>
            </a:r>
          </a:p>
        </p:txBody>
      </p:sp>
    </p:spTree>
    <p:extLst>
      <p:ext uri="{BB962C8B-B14F-4D97-AF65-F5344CB8AC3E}">
        <p14:creationId xmlns:p14="http://schemas.microsoft.com/office/powerpoint/2010/main" val="243057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4DA0-04CD-0614-6061-699DEC69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meteorology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A8C650-46B0-4D9F-484C-4CD4E11FD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448313"/>
              </p:ext>
            </p:extLst>
          </p:nvPr>
        </p:nvGraphicFramePr>
        <p:xfrm>
          <a:off x="1573305" y="2084296"/>
          <a:ext cx="9112083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50577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667436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2393576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3800494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date_valid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avg_temp_air_f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avg_pressure_2m_mb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1/1/2010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981.7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999.9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871.9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989.6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969.7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1000.7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22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540A-C421-259D-83B8-6E222D1A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Climatology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DEF7B4-6A7A-B281-0114-7485C9C67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26058"/>
              </p:ext>
            </p:extLst>
          </p:nvPr>
        </p:nvGraphicFramePr>
        <p:xfrm>
          <a:off x="1573305" y="2084296"/>
          <a:ext cx="9412942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50577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564509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3122985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3474871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doy_std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avg_daily_avg_temp_f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std_daily_avg_temp_f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10.7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34.4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5.3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24.8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9.9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73.9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8.6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63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540A-C421-259D-83B8-6E222D1A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Severe Weather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DEF7B4-6A7A-B281-0114-7485C9C67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318545"/>
              </p:ext>
            </p:extLst>
          </p:nvPr>
        </p:nvGraphicFramePr>
        <p:xfrm>
          <a:off x="2720788" y="2070849"/>
          <a:ext cx="6212541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38518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2048436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753035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  <a:gridCol w="779930">
                  <a:extLst>
                    <a:ext uri="{9D8B030D-6E8A-4147-A177-3AD203B41FA5}">
                      <a16:colId xmlns:a16="http://schemas.microsoft.com/office/drawing/2014/main" val="4096436559"/>
                    </a:ext>
                  </a:extLst>
                </a:gridCol>
                <a:gridCol w="806822">
                  <a:extLst>
                    <a:ext uri="{9D8B030D-6E8A-4147-A177-3AD203B41FA5}">
                      <a16:colId xmlns:a16="http://schemas.microsoft.com/office/drawing/2014/main" val="1998274799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date_valid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HW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1/1/2010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50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557E-4D30-1FF5-8176-9BFDED160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68B2-68DE-FDD4-0AA0-C738AF2B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 Use</a:t>
            </a:r>
            <a:br>
              <a:rPr lang="en-US" dirty="0"/>
            </a:br>
            <a:r>
              <a:rPr lang="en-US" sz="3200" dirty="0"/>
              <a:t>Often reported for one time point only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EBDC3D-ECAE-E3C0-6E46-DE27477969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255387"/>
              </p:ext>
            </p:extLst>
          </p:nvPr>
        </p:nvGraphicFramePr>
        <p:xfrm>
          <a:off x="1980626" y="2081481"/>
          <a:ext cx="8230747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66421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977656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999461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1084521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  <a:gridCol w="1446027">
                  <a:extLst>
                    <a:ext uri="{9D8B030D-6E8A-4147-A177-3AD203B41FA5}">
                      <a16:colId xmlns:a16="http://schemas.microsoft.com/office/drawing/2014/main" val="4096436559"/>
                    </a:ext>
                  </a:extLst>
                </a:gridCol>
                <a:gridCol w="1456661">
                  <a:extLst>
                    <a:ext uri="{9D8B030D-6E8A-4147-A177-3AD203B41FA5}">
                      <a16:colId xmlns:a16="http://schemas.microsoft.com/office/drawing/2014/main" val="1998274799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date_valid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crop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grassland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hb_tr_mx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1/1/2010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43.35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14.72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18.22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31.50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40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C555-2219-A1F5-C0D3-87616F55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ACD6-7785-9FCC-AB34-81D76CF8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quality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005516-0FA6-2842-328E-56EAE9DE49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9024782"/>
              </p:ext>
            </p:extLst>
          </p:nvPr>
        </p:nvGraphicFramePr>
        <p:xfrm>
          <a:off x="838200" y="2003614"/>
          <a:ext cx="10659035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19201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855694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2675965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4908175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date_valid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ozone_ppm_x1000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particulate_matter_2p5_ugpm3_x10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1/1/2010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73.02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77.74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89.59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108.12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109.48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134.93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124.43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136.51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131.2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171.39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132.04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191.07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1/1/2010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121.06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259.7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236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6F84-5C37-8DD7-52D2-120C1C81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52E0-B993-16A7-252A-765F5D93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2"/>
            <a:ext cx="10515600" cy="1325563"/>
          </a:xfrm>
        </p:spPr>
        <p:txBody>
          <a:bodyPr/>
          <a:lstStyle/>
          <a:p>
            <a:r>
              <a:rPr lang="en-US" dirty="0"/>
              <a:t>Projections – Meteorology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692DAF-132D-8E29-4217-ACEFE05185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96017"/>
              </p:ext>
            </p:extLst>
          </p:nvPr>
        </p:nvGraphicFramePr>
        <p:xfrm>
          <a:off x="1567543" y="3147031"/>
          <a:ext cx="8414657" cy="32859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17270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682387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2732314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2982686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</a:tblGrid>
              <a:tr h="6589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date_valid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avg_temp_f_126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hw5_days_585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1/1/2027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32.15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48.20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77.23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34.47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30.39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354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1/1/2027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39.66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E27F8A-8764-A72D-5FAD-C601EA16CAB5}"/>
              </a:ext>
            </a:extLst>
          </p:cNvPr>
          <p:cNvSpPr txBox="1"/>
          <p:nvPr/>
        </p:nvSpPr>
        <p:spPr>
          <a:xfrm>
            <a:off x="926023" y="1515815"/>
            <a:ext cx="106590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Projections are based on simulated climate scenarios.</a:t>
            </a:r>
          </a:p>
          <a:p>
            <a:endParaRPr lang="en-US" sz="2000" dirty="0"/>
          </a:p>
          <a:p>
            <a:r>
              <a:rPr lang="en-US" sz="2000" dirty="0"/>
              <a:t>Simulations are run for 4 different climate change scenarios, ranging from 126 (less severe effect on climate) to 585 (more severe effect on climate)</a:t>
            </a:r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908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278C-2C66-B5F1-079C-E7A21C64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E048-FD61-2C03-0D42-392D4F42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975"/>
            <a:ext cx="10515600" cy="1325563"/>
          </a:xfrm>
        </p:spPr>
        <p:txBody>
          <a:bodyPr/>
          <a:lstStyle/>
          <a:p>
            <a:r>
              <a:rPr lang="en-US" dirty="0"/>
              <a:t>Projections – Severe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4734F9-2E05-98E0-1ED2-F8DB94091B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633242"/>
              </p:ext>
            </p:extLst>
          </p:nvPr>
        </p:nvGraphicFramePr>
        <p:xfrm>
          <a:off x="1872342" y="2957195"/>
          <a:ext cx="8196943" cy="367183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63439">
                  <a:extLst>
                    <a:ext uri="{9D8B030D-6E8A-4147-A177-3AD203B41FA5}">
                      <a16:colId xmlns:a16="http://schemas.microsoft.com/office/drawing/2014/main" val="2862342260"/>
                    </a:ext>
                  </a:extLst>
                </a:gridCol>
                <a:gridCol w="1941381">
                  <a:extLst>
                    <a:ext uri="{9D8B030D-6E8A-4147-A177-3AD203B41FA5}">
                      <a16:colId xmlns:a16="http://schemas.microsoft.com/office/drawing/2014/main" val="3301205419"/>
                    </a:ext>
                  </a:extLst>
                </a:gridCol>
                <a:gridCol w="2311168">
                  <a:extLst>
                    <a:ext uri="{9D8B030D-6E8A-4147-A177-3AD203B41FA5}">
                      <a16:colId xmlns:a16="http://schemas.microsoft.com/office/drawing/2014/main" val="3713055498"/>
                    </a:ext>
                  </a:extLst>
                </a:gridCol>
                <a:gridCol w="2680955">
                  <a:extLst>
                    <a:ext uri="{9D8B030D-6E8A-4147-A177-3AD203B41FA5}">
                      <a16:colId xmlns:a16="http://schemas.microsoft.com/office/drawing/2014/main" val="3564093998"/>
                    </a:ext>
                  </a:extLst>
                </a:gridCol>
              </a:tblGrid>
              <a:tr h="5781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 err="1">
                          <a:solidFill>
                            <a:schemeClr val="tx2"/>
                          </a:solidFill>
                          <a:effectLst/>
                        </a:rPr>
                        <a:t>fips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p_cyclone_1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p_cyclone_1_5y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p_cyclone_1_10y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1642010454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31039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0.040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0.706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0.914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1981020365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53069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0.185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0.784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0.953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4219704463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35011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0.133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0.675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0.894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1452634996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31109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0.146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0.735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0.930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1539175845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31129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0.168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0.760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0.943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2043625419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72085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tx2"/>
                          </a:solidFill>
                          <a:effectLst/>
                        </a:rPr>
                        <a:t>0.040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0.675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0.914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742037445"/>
                  </a:ext>
                </a:extLst>
              </a:tr>
              <a:tr h="387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chemeClr val="tx2"/>
                          </a:solidFill>
                          <a:effectLst/>
                        </a:rPr>
                        <a:t>46099</a:t>
                      </a:r>
                      <a:endParaRPr lang="en-US" sz="2400" b="0" i="0" u="none" strike="noStrike" dirty="0">
                        <a:solidFill>
                          <a:schemeClr val="tx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0.115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0.706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effectLst/>
                        </a:rPr>
                        <a:t>0.914</a:t>
                      </a:r>
                    </a:p>
                  </a:txBody>
                  <a:tcPr marL="47625" marR="47625" marT="38100" marB="38100" anchor="ctr"/>
                </a:tc>
                <a:extLst>
                  <a:ext uri="{0D108BD9-81ED-4DB2-BD59-A6C34878D82A}">
                    <a16:rowId xmlns:a16="http://schemas.microsoft.com/office/drawing/2014/main" val="31445730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E036B6-EF5B-D1ED-E957-1BB7F291D870}"/>
              </a:ext>
            </a:extLst>
          </p:cNvPr>
          <p:cNvSpPr txBox="1"/>
          <p:nvPr/>
        </p:nvSpPr>
        <p:spPr>
          <a:xfrm>
            <a:off x="838200" y="1071020"/>
            <a:ext cx="109426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Predicting a 0/1 variable is much more complicated.</a:t>
            </a:r>
          </a:p>
          <a:p>
            <a:r>
              <a:rPr lang="en-US" sz="2000" dirty="0"/>
              <a:t>The following shows predictions for a category 1 cyclone (p_cyclone_1) for different time periods</a:t>
            </a:r>
          </a:p>
          <a:p>
            <a:endParaRPr lang="en-US" sz="2000" dirty="0"/>
          </a:p>
          <a:p>
            <a:r>
              <a:rPr lang="en-US" sz="2000" dirty="0"/>
              <a:t> The values are probabilities of a cyclone in the same year, within 5 years, and within 10 years</a:t>
            </a:r>
          </a:p>
        </p:txBody>
      </p:sp>
    </p:spTree>
    <p:extLst>
      <p:ext uri="{BB962C8B-B14F-4D97-AF65-F5344CB8AC3E}">
        <p14:creationId xmlns:p14="http://schemas.microsoft.com/office/powerpoint/2010/main" val="17106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FE31-BB37-8B7C-A770-25B9777B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Problems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B53F-629A-FEB2-1D83-13E3F4F21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Everyone is welcome to use the United States analysis as a baseline for their own. I will provide the code used to merge and analyze the data. However…</a:t>
            </a:r>
          </a:p>
          <a:p>
            <a:endParaRPr lang="en-US" sz="1200" dirty="0"/>
          </a:p>
          <a:p>
            <a:r>
              <a:rPr lang="en-US" dirty="0"/>
              <a:t>Variable availability</a:t>
            </a:r>
          </a:p>
          <a:p>
            <a:pPr lvl="1"/>
            <a:r>
              <a:rPr lang="en-US" dirty="0"/>
              <a:t>Some variables will not be available in every country</a:t>
            </a:r>
          </a:p>
          <a:p>
            <a:pPr lvl="1"/>
            <a:r>
              <a:rPr lang="en-US" dirty="0"/>
              <a:t>Example: snowfall in Cambodia – does it snow in Cambodia?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Variable naming</a:t>
            </a:r>
          </a:p>
          <a:p>
            <a:pPr lvl="1"/>
            <a:r>
              <a:rPr lang="en-US" dirty="0"/>
              <a:t>The files sent to different countries may have different variable names or coding conventions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87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E8F4-2AD2-7570-BB28-71B81038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2A2AC-C8F1-FB87-05AE-B901783B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run through all the code in this workshop, so you know what each line is doing</a:t>
            </a:r>
          </a:p>
          <a:p>
            <a:endParaRPr lang="en-US" dirty="0"/>
          </a:p>
          <a:p>
            <a:r>
              <a:rPr lang="en-US" dirty="0"/>
              <a:t>When you apply the code to your own data, I will be available to answer any questions</a:t>
            </a:r>
          </a:p>
          <a:p>
            <a:endParaRPr lang="en-US" dirty="0"/>
          </a:p>
          <a:p>
            <a:r>
              <a:rPr lang="en-US" dirty="0"/>
              <a:t>After January 28</a:t>
            </a:r>
            <a:r>
              <a:rPr lang="en-US" baseline="30000" dirty="0"/>
              <a:t>th</a:t>
            </a:r>
            <a:r>
              <a:rPr lang="en-US" dirty="0"/>
              <a:t>, 2026, please contact me at </a:t>
            </a:r>
            <a:r>
              <a:rPr lang="en-US" dirty="0">
                <a:hlinkClick r:id="rId2"/>
              </a:rPr>
              <a:t>rachelmercaldo@gmail.com</a:t>
            </a:r>
            <a:r>
              <a:rPr lang="en-US" dirty="0"/>
              <a:t> rather than at my NIH e-mail (it will not reach </a:t>
            </a:r>
            <a:r>
              <a:rPr lang="en-US"/>
              <a:t>me there)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6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890</Words>
  <Application>Microsoft Office PowerPoint</Application>
  <PresentationFormat>Widescreen</PresentationFormat>
  <Paragraphs>338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Introduction to  Weather Source Data</vt:lpstr>
      <vt:lpstr>Why Weather Source?</vt:lpstr>
      <vt:lpstr>Why Weather Source?</vt:lpstr>
      <vt:lpstr>Why Weather Source?</vt:lpstr>
      <vt:lpstr>What is included?</vt:lpstr>
      <vt:lpstr>Historical meteorology</vt:lpstr>
      <vt:lpstr>Historical Climatology</vt:lpstr>
      <vt:lpstr>Historical Severe Weather</vt:lpstr>
      <vt:lpstr>Land Use Often reported for one time point only</vt:lpstr>
      <vt:lpstr>Air quality</vt:lpstr>
      <vt:lpstr>Projections – Meteorology</vt:lpstr>
      <vt:lpstr>Projections – Severe events</vt:lpstr>
      <vt:lpstr>Potential Problems </vt:lpstr>
      <vt:lpstr>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Mercaldo, Rachel (NIH/NIAID) [E]</dc:creator>
  <cp:lastModifiedBy>Mercaldo, Rachel (NIH/NIAID) [E]</cp:lastModifiedBy>
  <cp:revision>4</cp:revision>
  <dcterms:created xsi:type="dcterms:W3CDTF">2025-07-17T18:01:19Z</dcterms:created>
  <dcterms:modified xsi:type="dcterms:W3CDTF">2025-08-28T18:52:05Z</dcterms:modified>
</cp:coreProperties>
</file>
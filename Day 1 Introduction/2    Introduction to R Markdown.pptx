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2203" autoAdjust="0"/>
  </p:normalViewPr>
  <p:slideViewPr>
    <p:cSldViewPr snapToGrid="0">
      <p:cViewPr varScale="1">
        <p:scale>
          <a:sx n="91" d="100"/>
          <a:sy n="91" d="100"/>
        </p:scale>
        <p:origin x="135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572648-B18A-4131-B70E-8DA886F6F9B5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5B063F-0A40-4DAD-B38D-D1B3BFC58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340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5B063F-0A40-4DAD-B38D-D1B3BFC5855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299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CCBBD-483D-7328-9F96-E8C77DF4B6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D81EC8-4546-E203-101E-1AA68EF780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655A9-641B-FC4C-12D7-F187F1C81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33238-437C-4963-9A02-A874FA615101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F71F1-FB5F-C41F-3209-68B8D142E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C6C52-D531-5D82-CBAE-0DACF260C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92E8E-3D92-48BE-92D0-C66B3D5BE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905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6114D-3659-5740-604F-5C1C17DC5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D7542-8B74-599F-58BD-30491CAD7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BC962-322E-D70C-6CFB-590AE1C2C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33238-437C-4963-9A02-A874FA615101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817A1-3F34-AF4F-FC79-68D286094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A2204-048C-9995-3E6B-AA191321C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92E8E-3D92-48BE-92D0-C66B3D5BE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291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E72BB-5A64-0D7A-07B7-761A1F67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75799-F15C-1D4F-CA58-C7453ECA86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80BD7-87B1-BCF4-13EA-DE82CB772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33238-437C-4963-9A02-A874FA615101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CDCAC-1D4B-D2DB-CE9D-46025EBE4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E92C3-D9A0-BB64-8AE6-6BF099CFF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92E8E-3D92-48BE-92D0-C66B3D5BE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542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A20FA-6025-BF23-22C4-347E427FB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D0D3B-68D0-BE04-5126-FAF9191504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93E8E2-D38C-39F7-CE39-D8E6AFEA0F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B0394-13B4-6623-CBAA-6423F53F7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33238-437C-4963-9A02-A874FA615101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FB8AE0-643C-334D-CF81-7B39B7FF9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B1521-8EC9-A3CF-03C2-64ED9B563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92E8E-3D92-48BE-92D0-C66B3D5BE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671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31314-A859-37AD-8D1D-E0DBD76AD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053E9-9CE5-CD5F-9F1A-947339B0A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838AF2-EF17-3597-5809-87E4BF0D7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E4C414-C0EB-5565-015B-B8FD457EF6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1C9E16-F172-1FA8-7350-6D4AC9D6B6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2775ED-2DC3-F38C-A7B2-7D87F7740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33238-437C-4963-9A02-A874FA615101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CA8BAE-AEF5-FC49-081C-BBDEF19EB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231FA0-BBB4-E0FF-6A58-7CD52831C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92E8E-3D92-48BE-92D0-C66B3D5BE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0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BA977-B194-29F9-E573-D2775DF3C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BE3843-C20D-E600-51B3-DC9114682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33238-437C-4963-9A02-A874FA615101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41A9AC-0510-BD1D-F236-54316A53C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E1A87A-58F6-3544-888A-A84C345EA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92E8E-3D92-48BE-92D0-C66B3D5BE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729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515D0B-8481-BD69-3A19-6007B2E46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33238-437C-4963-9A02-A874FA615101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8B4C7D-5B5D-DA9C-5FCB-581FC3747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2D3EE0-17B4-07A6-C4CD-259E40359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92E8E-3D92-48BE-92D0-C66B3D5BE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265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2430E-EF49-1E6A-9CD1-0B869D787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4BF3A-628B-75A9-5ECC-D38D52F27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C92220-2F8E-B1B8-2159-D29F71E09C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7F00F-2E58-66FB-C809-FD88A57E6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33238-437C-4963-9A02-A874FA615101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986273-41B4-4B82-03F6-06F1537CC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7577CF-4A62-B52D-FD89-2ACAA6226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92E8E-3D92-48BE-92D0-C66B3D5BE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620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4F15-9B9D-6273-8447-0B3CD310F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CE6C37-CF29-AAF4-6270-C5C6BFCBB3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CCA253-AD97-CD95-FA0D-C55DB6A50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BA70C6-9C21-1673-C218-02E296AD5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33238-437C-4963-9A02-A874FA615101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FD5237-AFDA-DA88-2F18-89A5BD36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E9CF6B-8D61-D8A8-079F-C8AC953E6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92E8E-3D92-48BE-92D0-C66B3D5BE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439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29DDA-2CD9-3B58-33BD-A8BF954EE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5E0C23-3E6D-7105-040C-CCB16CE4FD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7A481-9C7E-57F6-778D-4FF12E02F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33238-437C-4963-9A02-A874FA615101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05B55-AEB0-6F66-62D9-BDB56D43F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7DA85-7A08-4396-C01F-6FF0545B7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92E8E-3D92-48BE-92D0-C66B3D5BE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381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1A1589-4B6D-3AD3-C076-E185A13C3F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BA044C-8405-AF00-B778-7B2C23916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B3E99-C9A3-3719-B88D-6AF588A1F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33238-437C-4963-9A02-A874FA615101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E5988-1D28-888D-1E6D-F5C15D118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4AB78-78C9-4A81-B691-B2D39C534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92E8E-3D92-48BE-92D0-C66B3D5BE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163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174B8-D36B-BCDB-03BC-3514A9BA2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3AC277-424F-AA0B-E231-6BAC3A0A8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99569-5DE7-ACBA-B9FC-35B43E12CF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A33238-437C-4963-9A02-A874FA615101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745DD-0BB6-6A57-9CEF-77D873363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85601-B112-3F62-F7EE-1BAC50D55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B92E8E-3D92-48BE-92D0-C66B3D5BE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165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ithub.com/RachelMercaldo/NTM-Modeling-Workshop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C8FC9D-FC50-5576-EFBC-3376A0E94B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0" y="1050595"/>
            <a:ext cx="9697085" cy="161848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/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Welcome to the Workshop!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59B5A8-A869-7F62-8CA9-24AF951910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0" y="2904171"/>
            <a:ext cx="9697085" cy="31007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200" dirty="0"/>
              <a:t>Visit </a:t>
            </a:r>
            <a:r>
              <a:rPr lang="en-US" sz="2200" u="sng" dirty="0">
                <a:hlinkClick r:id="rId2"/>
              </a:rPr>
              <a:t>www.github.com/RachelMercaldo/NTM-Modeling-Workshop</a:t>
            </a:r>
            <a:endParaRPr lang="en-US" sz="2200" u="sng" dirty="0"/>
          </a:p>
          <a:p>
            <a:pPr algn="l"/>
            <a:endParaRPr lang="en-US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492A7C-6228-C8B5-CF97-8F56B7A08606}"/>
              </a:ext>
            </a:extLst>
          </p:cNvPr>
          <p:cNvSpPr txBox="1"/>
          <p:nvPr/>
        </p:nvSpPr>
        <p:spPr>
          <a:xfrm>
            <a:off x="1209675" y="4188917"/>
            <a:ext cx="8091980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These </a:t>
            </a:r>
            <a:r>
              <a:rPr lang="en-US" sz="1400" dirty="0"/>
              <a:t>s</a:t>
            </a:r>
            <a:r>
              <a:rPr lang="en-US" sz="1400"/>
              <a:t>lides </a:t>
            </a:r>
            <a:r>
              <a:rPr lang="en-US" sz="1400" dirty="0"/>
              <a:t>are for use by </a:t>
            </a:r>
            <a:r>
              <a:rPr lang="en-US" sz="1400" dirty="0" err="1"/>
              <a:t>eASIA</a:t>
            </a:r>
            <a:r>
              <a:rPr lang="en-US" sz="1400" dirty="0"/>
              <a:t> JRP participants for educational purposes only. No slide or portions of slides can be copied or used in presentations, publications, or other public work without written permission of the author. </a:t>
            </a:r>
          </a:p>
        </p:txBody>
      </p:sp>
    </p:spTree>
    <p:extLst>
      <p:ext uri="{BB962C8B-B14F-4D97-AF65-F5344CB8AC3E}">
        <p14:creationId xmlns:p14="http://schemas.microsoft.com/office/powerpoint/2010/main" val="1869155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0F91F-876C-893D-438F-820459620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Markdown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EA0D9-B2AB-C609-2AB9-17D0873F5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Today, we will be working in RStudio using a different file type.</a:t>
            </a:r>
          </a:p>
          <a:p>
            <a:pPr marL="0" indent="0">
              <a:buNone/>
            </a:pPr>
            <a:r>
              <a:rPr lang="en-US" dirty="0"/>
              <a:t>We can work with base R by typing our commands into the source file pane (top left) </a:t>
            </a:r>
            <a:r>
              <a:rPr lang="en-US"/>
              <a:t>of RStudio, </a:t>
            </a:r>
            <a:r>
              <a:rPr lang="en-US" dirty="0"/>
              <a:t>which is basically a text file. </a:t>
            </a:r>
          </a:p>
          <a:p>
            <a:pPr marL="0" indent="0">
              <a:buNone/>
            </a:pPr>
            <a:r>
              <a:rPr lang="en-US" dirty="0"/>
              <a:t>These files are saved with the .R file extension.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Today, we will be working with R Markdown. These files have a .</a:t>
            </a:r>
            <a:r>
              <a:rPr lang="en-US" dirty="0" err="1"/>
              <a:t>Rmd</a:t>
            </a:r>
            <a:r>
              <a:rPr lang="en-US" dirty="0"/>
              <a:t> file extension, but should open in RStudio automatically.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Sometimes, computers try to open these files in a PDF viewer or (oddly) a citation manager program. </a:t>
            </a:r>
          </a:p>
        </p:txBody>
      </p:sp>
    </p:spTree>
    <p:extLst>
      <p:ext uri="{BB962C8B-B14F-4D97-AF65-F5344CB8AC3E}">
        <p14:creationId xmlns:p14="http://schemas.microsoft.com/office/powerpoint/2010/main" val="1637598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13F67B-5031-0A20-4C9B-673EC97D5D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1000" y="426314"/>
            <a:ext cx="5525219" cy="1124107"/>
          </a:xfrm>
          <a:ln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9B96260-BAB2-919D-3AA6-71FC768B0147}"/>
              </a:ext>
            </a:extLst>
          </p:cNvPr>
          <p:cNvSpPr/>
          <p:nvPr/>
        </p:nvSpPr>
        <p:spPr>
          <a:xfrm>
            <a:off x="381000" y="997636"/>
            <a:ext cx="5525219" cy="31432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917176C-9892-E353-69FC-70571761ED52}"/>
              </a:ext>
            </a:extLst>
          </p:cNvPr>
          <p:cNvGrpSpPr/>
          <p:nvPr/>
        </p:nvGrpSpPr>
        <p:grpSpPr>
          <a:xfrm>
            <a:off x="5951058" y="1248497"/>
            <a:ext cx="6315075" cy="5153025"/>
            <a:chOff x="5983857" y="1550421"/>
            <a:chExt cx="6315075" cy="5153025"/>
          </a:xfrm>
        </p:grpSpPr>
        <p:pic>
          <p:nvPicPr>
            <p:cNvPr id="9" name="Picture 8" descr="Graphical user interface, text, application, email&#10;&#10;AI-generated content may be incorrect.">
              <a:extLst>
                <a:ext uri="{FF2B5EF4-FFF2-40B4-BE49-F238E27FC236}">
                  <a16:creationId xmlns:a16="http://schemas.microsoft.com/office/drawing/2014/main" id="{5F58197B-42E2-76B4-1F0E-C6AE4E5965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3857" y="1550421"/>
              <a:ext cx="6315075" cy="515302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8575D87-6710-85D1-3FB0-977FB64B00DB}"/>
                </a:ext>
              </a:extLst>
            </p:cNvPr>
            <p:cNvSpPr/>
            <p:nvPr/>
          </p:nvSpPr>
          <p:spPr>
            <a:xfrm>
              <a:off x="6947142" y="3274263"/>
              <a:ext cx="2613803" cy="314325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1ABEADF-B0DA-3227-7305-96CE7A676B4E}"/>
                </a:ext>
              </a:extLst>
            </p:cNvPr>
            <p:cNvSpPr/>
            <p:nvPr/>
          </p:nvSpPr>
          <p:spPr>
            <a:xfrm>
              <a:off x="9601200" y="3586162"/>
              <a:ext cx="2130725" cy="314325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E1CD099-79E4-D845-DB44-89EB2D0D3527}"/>
                </a:ext>
              </a:extLst>
            </p:cNvPr>
            <p:cNvSpPr/>
            <p:nvPr/>
          </p:nvSpPr>
          <p:spPr>
            <a:xfrm>
              <a:off x="9601200" y="4228302"/>
              <a:ext cx="2130725" cy="314325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23EDDAC-F4C1-BA4B-BA4B-748674395838}"/>
              </a:ext>
            </a:extLst>
          </p:cNvPr>
          <p:cNvSpPr txBox="1">
            <a:spLocks/>
          </p:cNvSpPr>
          <p:nvPr/>
        </p:nvSpPr>
        <p:spPr>
          <a:xfrm>
            <a:off x="476072" y="2297832"/>
            <a:ext cx="5335074" cy="32570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In Windows: </a:t>
            </a:r>
            <a:r>
              <a:rPr lang="en-US" dirty="0"/>
              <a:t>Right click on the file and select “Open with.” Choose RStudio or, if it is not listed, select “Choose another app” and find RStudio in the list.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In MAC: </a:t>
            </a:r>
            <a:r>
              <a:rPr lang="en-US" dirty="0"/>
              <a:t>select the file, open its “Get Info” window, and change the “Open with” setting to RStudio. Click “Change all.”</a:t>
            </a:r>
          </a:p>
        </p:txBody>
      </p:sp>
    </p:spTree>
    <p:extLst>
      <p:ext uri="{BB962C8B-B14F-4D97-AF65-F5344CB8AC3E}">
        <p14:creationId xmlns:p14="http://schemas.microsoft.com/office/powerpoint/2010/main" val="3438716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53F6D-9113-8685-A41A-4C107E3E2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R Markdown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51836-7048-D505-8A65-2FFDB2E11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 Markdown is used to combine text, images, and R code in one document.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can be “knit” into HTML files, Word documents, presentation slides, or PDFs.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our purposes, it is just a nicer way to include text and code in one file for easier reading, rather than seeing a lot of #comments in regular R code.</a:t>
            </a:r>
          </a:p>
        </p:txBody>
      </p:sp>
    </p:spTree>
    <p:extLst>
      <p:ext uri="{BB962C8B-B14F-4D97-AF65-F5344CB8AC3E}">
        <p14:creationId xmlns:p14="http://schemas.microsoft.com/office/powerpoint/2010/main" val="2298288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3427B-E135-4780-D347-7E4A1E5DD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11A6E-4CD7-52D7-71A4-9E38E7E91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look for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72791-207A-21D0-433D-C2DA901A5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top of the document will give R Markdown instructions on how to output the document (the default is an HTML file). It will also have the title of the document, the author, and the date.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can ignore that section.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rest of the document will be text, just like in Word, or code chunks that you can run. </a:t>
            </a:r>
          </a:p>
        </p:txBody>
      </p:sp>
    </p:spTree>
    <p:extLst>
      <p:ext uri="{BB962C8B-B14F-4D97-AF65-F5344CB8AC3E}">
        <p14:creationId xmlns:p14="http://schemas.microsoft.com/office/powerpoint/2010/main" val="2144370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E058B-7DE3-6333-86B1-1516769F3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5421B-BC28-935D-0BFB-F428F5B0D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262" y="324295"/>
            <a:ext cx="10515600" cy="1325563"/>
          </a:xfrm>
        </p:spPr>
        <p:txBody>
          <a:bodyPr/>
          <a:lstStyle/>
          <a:p>
            <a:r>
              <a:rPr lang="en-US" dirty="0"/>
              <a:t>Example code chunk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9F01A59-FCAD-5A73-560B-C607B6D3F4C4}"/>
              </a:ext>
            </a:extLst>
          </p:cNvPr>
          <p:cNvGrpSpPr/>
          <p:nvPr/>
        </p:nvGrpSpPr>
        <p:grpSpPr>
          <a:xfrm>
            <a:off x="2213924" y="2123129"/>
            <a:ext cx="7029426" cy="3048425"/>
            <a:chOff x="2510342" y="2064858"/>
            <a:chExt cx="7029426" cy="304842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003302D-437D-B809-7330-0818218A5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52232" y="2064858"/>
              <a:ext cx="6887536" cy="3048425"/>
            </a:xfrm>
            <a:prstGeom prst="rect">
              <a:avLst/>
            </a:prstGeom>
          </p:spPr>
        </p:pic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03AA987-67F0-0CD1-CCC0-C3B5C9E18FD2}"/>
                </a:ext>
              </a:extLst>
            </p:cNvPr>
            <p:cNvSpPr/>
            <p:nvPr/>
          </p:nvSpPr>
          <p:spPr>
            <a:xfrm>
              <a:off x="2667996" y="2186150"/>
              <a:ext cx="837202" cy="430925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5FA456B-CF8A-BAE1-007A-153AC6FD0B9B}"/>
                </a:ext>
              </a:extLst>
            </p:cNvPr>
            <p:cNvSpPr/>
            <p:nvPr/>
          </p:nvSpPr>
          <p:spPr>
            <a:xfrm>
              <a:off x="2510342" y="4503682"/>
              <a:ext cx="837202" cy="430925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FABC602-6F03-8929-7060-815C86AA8BFF}"/>
                </a:ext>
              </a:extLst>
            </p:cNvPr>
            <p:cNvSpPr/>
            <p:nvPr/>
          </p:nvSpPr>
          <p:spPr>
            <a:xfrm>
              <a:off x="9101958" y="2343806"/>
              <a:ext cx="336332" cy="357351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D3C8519-FA2D-F928-0C03-6408922E999F}"/>
              </a:ext>
            </a:extLst>
          </p:cNvPr>
          <p:cNvSpPr txBox="1"/>
          <p:nvPr/>
        </p:nvSpPr>
        <p:spPr>
          <a:xfrm>
            <a:off x="589578" y="1939947"/>
            <a:ext cx="17657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10000"/>
                    <a:lumOff val="90000"/>
                  </a:schemeClr>
                </a:solidFill>
                <a:highlight>
                  <a:srgbClr val="808080"/>
                </a:highlight>
              </a:rPr>
              <a:t>```{r} </a:t>
            </a:r>
            <a:r>
              <a:rPr lang="en-US" dirty="0">
                <a:solidFill>
                  <a:schemeClr val="tx2">
                    <a:lumMod val="10000"/>
                    <a:lumOff val="90000"/>
                  </a:schemeClr>
                </a:solidFill>
              </a:rPr>
              <a:t> </a:t>
            </a:r>
            <a:r>
              <a:rPr lang="en-US" dirty="0"/>
              <a:t>tells R that a code chunk follows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954CCD-0887-F9D6-ED3C-9FCFBB651982}"/>
              </a:ext>
            </a:extLst>
          </p:cNvPr>
          <p:cNvSpPr txBox="1"/>
          <p:nvPr/>
        </p:nvSpPr>
        <p:spPr>
          <a:xfrm>
            <a:off x="326820" y="4220694"/>
            <a:ext cx="19207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10000"/>
                    <a:lumOff val="90000"/>
                  </a:schemeClr>
                </a:solidFill>
                <a:highlight>
                  <a:srgbClr val="808080"/>
                </a:highlight>
              </a:rPr>
              <a:t>```</a:t>
            </a:r>
            <a:r>
              <a:rPr lang="en-US" dirty="0">
                <a:solidFill>
                  <a:schemeClr val="tx2">
                    <a:lumMod val="10000"/>
                    <a:lumOff val="90000"/>
                  </a:schemeClr>
                </a:solidFill>
              </a:rPr>
              <a:t>  </a:t>
            </a:r>
            <a:r>
              <a:rPr lang="en-US" dirty="0"/>
              <a:t>closes the code chunk so you can continue with plain text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BBAC12-D914-03CB-BF42-BA07560A2EF5}"/>
              </a:ext>
            </a:extLst>
          </p:cNvPr>
          <p:cNvSpPr txBox="1"/>
          <p:nvPr/>
        </p:nvSpPr>
        <p:spPr>
          <a:xfrm>
            <a:off x="9431038" y="2123129"/>
            <a:ext cx="2373708" cy="3164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can run the entire code chunk by selecting the green arrow</a:t>
            </a:r>
          </a:p>
          <a:p>
            <a:pPr>
              <a:lnSpc>
                <a:spcPts val="1600"/>
              </a:lnSpc>
            </a:pPr>
            <a:endParaRPr lang="en-US" dirty="0"/>
          </a:p>
          <a:p>
            <a:pPr>
              <a:lnSpc>
                <a:spcPts val="1600"/>
              </a:lnSpc>
            </a:pPr>
            <a:r>
              <a:rPr lang="en-US" dirty="0"/>
              <a:t>OR</a:t>
            </a:r>
          </a:p>
          <a:p>
            <a:endParaRPr lang="en-US" sz="1100" dirty="0"/>
          </a:p>
          <a:p>
            <a:r>
              <a:rPr lang="en-US" dirty="0"/>
              <a:t>You can run code line by line by highlighting it and selecting “Run” at the top of the window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0F08D8C-94E6-1ECF-0823-88F265698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5895" y="5701247"/>
            <a:ext cx="6458851" cy="676369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3898994-063C-84D3-F6E7-8C6A196A5736}"/>
              </a:ext>
            </a:extLst>
          </p:cNvPr>
          <p:cNvCxnSpPr>
            <a:cxnSpLocks/>
          </p:cNvCxnSpPr>
          <p:nvPr/>
        </p:nvCxnSpPr>
        <p:spPr>
          <a:xfrm>
            <a:off x="10415752" y="5127043"/>
            <a:ext cx="620110" cy="77977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1699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424</TotalTime>
  <Words>434</Words>
  <Application>Microsoft Office PowerPoint</Application>
  <PresentationFormat>Widescreen</PresentationFormat>
  <Paragraphs>34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Welcome to the Workshop!</vt:lpstr>
      <vt:lpstr>R Markdown</vt:lpstr>
      <vt:lpstr>PowerPoint Presentation</vt:lpstr>
      <vt:lpstr>Why R Markdown</vt:lpstr>
      <vt:lpstr>What to look for</vt:lpstr>
      <vt:lpstr>Example code chunk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Mercaldo, Rachel (NIH/NIAID) [E]</dc:creator>
  <cp:lastModifiedBy>Mercaldo, Rachel (NIH/NIAID) [E]</cp:lastModifiedBy>
  <cp:revision>9</cp:revision>
  <dcterms:created xsi:type="dcterms:W3CDTF">2025-07-19T17:06:56Z</dcterms:created>
  <dcterms:modified xsi:type="dcterms:W3CDTF">2025-08-28T19:00:10Z</dcterms:modified>
</cp:coreProperties>
</file>
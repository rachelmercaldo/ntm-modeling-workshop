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3" r:id="rId4"/>
    <p:sldId id="268" r:id="rId5"/>
    <p:sldId id="272" r:id="rId6"/>
    <p:sldId id="269" r:id="rId7"/>
    <p:sldId id="270" r:id="rId8"/>
    <p:sldId id="271" r:id="rId9"/>
    <p:sldId id="273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657F69E0-C4B0-4BEC-A689-4F8D877F0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Map&#10;&#10;AI-generated content may be incorrect.">
            <a:extLst>
              <a:ext uri="{FF2B5EF4-FFF2-40B4-BE49-F238E27FC236}">
                <a16:creationId xmlns:a16="http://schemas.microsoft.com/office/drawing/2014/main" id="{BE09CAB2-B90A-450D-AE3F-B5DB61253F3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r="-1" b="8139"/>
          <a:stretch>
            <a:fillRect/>
          </a:stretch>
        </p:blipFill>
        <p:spPr>
          <a:xfrm>
            <a:off x="20" y="10"/>
            <a:ext cx="12188930" cy="68579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1122363"/>
            <a:ext cx="9144000" cy="3063240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6600">
                <a:solidFill>
                  <a:schemeClr val="bg1"/>
                </a:solidFill>
              </a:rPr>
              <a:t>Spatiotemporal Epidemiology Methods</a:t>
            </a:r>
          </a:p>
        </p:txBody>
      </p:sp>
      <p:sp>
        <p:nvSpPr>
          <p:cNvPr id="31" name="sketchy line">
            <a:extLst>
              <a:ext uri="{FF2B5EF4-FFF2-40B4-BE49-F238E27FC236}">
                <a16:creationId xmlns:a16="http://schemas.microsoft.com/office/drawing/2014/main" id="{9F6380B4-6A1C-481E-8408-B4E6C75B9B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4206" y="4368623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rgbClr val="FFFFFF">
              <a:alpha val="75000"/>
            </a:srgbClr>
          </a:solidFill>
          <a:ln w="44450" cap="rnd">
            <a:solidFill>
              <a:schemeClr val="bg1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98D0573-AF81-7998-B7E3-B287A5FE692E}"/>
              </a:ext>
            </a:extLst>
          </p:cNvPr>
          <p:cNvSpPr txBox="1"/>
          <p:nvPr/>
        </p:nvSpPr>
        <p:spPr>
          <a:xfrm>
            <a:off x="1148951" y="5330680"/>
            <a:ext cx="9891050" cy="52322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These slides are for use by </a:t>
            </a:r>
            <a:r>
              <a:rPr lang="en-US" sz="1400" dirty="0" err="1">
                <a:solidFill>
                  <a:schemeClr val="bg1"/>
                </a:solidFill>
              </a:rPr>
              <a:t>eASIA</a:t>
            </a:r>
            <a:r>
              <a:rPr lang="en-US" sz="1400" dirty="0">
                <a:solidFill>
                  <a:schemeClr val="bg1"/>
                </a:solidFill>
              </a:rPr>
              <a:t> JRP participants for educational purposes only. No slide or portions of slides can be copied or used in presentations, publications, or other public work without written permission of the author.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What is Spatiotemporal Epidemiology?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819657"/>
            <a:ext cx="10972800" cy="4525963"/>
          </a:xfrm>
        </p:spPr>
        <p:txBody>
          <a:bodyPr/>
          <a:lstStyle/>
          <a:p>
            <a:r>
              <a:rPr dirty="0"/>
              <a:t>Studies how disease patterns vary across space and time</a:t>
            </a:r>
          </a:p>
          <a:p>
            <a:r>
              <a:rPr dirty="0"/>
              <a:t>Useful for identifying clusters, trends, and risk factors</a:t>
            </a:r>
          </a:p>
          <a:p>
            <a:r>
              <a:rPr dirty="0"/>
              <a:t>Involves tools like mapping, statistics, and time-series models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Spatiotemporal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Cluster Detection (SaTScan)</a:t>
            </a:r>
          </a:p>
          <a:p>
            <a:r>
              <a:t>2. GIS Mapping &amp; Interpolation</a:t>
            </a:r>
          </a:p>
          <a:p>
            <a:r>
              <a:t>3. Regression Modeling</a:t>
            </a:r>
          </a:p>
          <a:p>
            <a:r>
              <a:t>4. Time-Series and Lag Models</a:t>
            </a:r>
          </a:p>
          <a:p>
            <a:r>
              <a:t>5. Multi-Method Comparisons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Map&#10;&#10;AI-generated content may be incorrect.">
            <a:extLst>
              <a:ext uri="{FF2B5EF4-FFF2-40B4-BE49-F238E27FC236}">
                <a16:creationId xmlns:a16="http://schemas.microsoft.com/office/drawing/2014/main" id="{C7FC69F3-0C7B-0B26-4707-F83CCC1A7AF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177"/>
          <a:stretch>
            <a:fillRect/>
          </a:stretch>
        </p:blipFill>
        <p:spPr>
          <a:xfrm>
            <a:off x="-1318660" y="876587"/>
            <a:ext cx="9669642" cy="685799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31610" y="365125"/>
            <a:ext cx="3822189" cy="1899912"/>
          </a:xfrm>
        </p:spPr>
        <p:txBody>
          <a:bodyPr>
            <a:normAutofit/>
          </a:bodyPr>
          <a:lstStyle/>
          <a:p>
            <a:r>
              <a:rPr lang="en-US" sz="3700"/>
              <a:t>Cluster Detection with Spatial Scan Statistics (SaTScan)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531610" y="2434201"/>
            <a:ext cx="3822189" cy="3742762"/>
          </a:xfrm>
        </p:spPr>
        <p:txBody>
          <a:bodyPr>
            <a:normAutofit/>
          </a:bodyPr>
          <a:lstStyle/>
          <a:p>
            <a:r>
              <a:rPr lang="en-US" sz="2000" dirty="0"/>
              <a:t>Finds clusters of high disease rates using moving windows</a:t>
            </a:r>
          </a:p>
          <a:p>
            <a:r>
              <a:rPr lang="en-US" sz="2000" dirty="0"/>
              <a:t>Tests each zone for unusually high case counts</a:t>
            </a:r>
          </a:p>
          <a:p>
            <a:r>
              <a:rPr lang="en-US" sz="2000" dirty="0"/>
              <a:t>Uses Poisson or Bernoulli models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Multi-Method Comparison &amp; Flexible Cluster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Uses multiple scan methods for better cluster detection</a:t>
            </a:r>
          </a:p>
          <a:p>
            <a:r>
              <a:rPr dirty="0" err="1"/>
              <a:t>PreCoG</a:t>
            </a:r>
            <a:r>
              <a:rPr dirty="0"/>
              <a:t> combines circular, elliptical, and flexible shapes</a:t>
            </a:r>
          </a:p>
          <a:p>
            <a:r>
              <a:rPr dirty="0"/>
              <a:t>Flexible methods find realistic, irregular clusters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92583" y="501651"/>
            <a:ext cx="4434720" cy="1716255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900"/>
              <a:t>GIS Mapping &amp; Spatial Interpolation (Kriging)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Map&#10;&#10;AI-generated content may be incorrect.">
            <a:extLst>
              <a:ext uri="{FF2B5EF4-FFF2-40B4-BE49-F238E27FC236}">
                <a16:creationId xmlns:a16="http://schemas.microsoft.com/office/drawing/2014/main" id="{0BC6CB12-CAEA-1A27-5289-6E88C87259B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250" r="6131" b="1"/>
          <a:stretch>
            <a:fillRect/>
          </a:stretch>
        </p:blipFill>
        <p:spPr>
          <a:xfrm>
            <a:off x="279143" y="299508"/>
            <a:ext cx="5221625" cy="3010397"/>
          </a:xfrm>
          <a:prstGeom prst="rect">
            <a:avLst/>
          </a:prstGeom>
        </p:spPr>
      </p:pic>
      <p:pic>
        <p:nvPicPr>
          <p:cNvPr id="7" name="Picture 6" descr="Graphical user interface, application&#10;&#10;AI-generated content may be incorrect.">
            <a:extLst>
              <a:ext uri="{FF2B5EF4-FFF2-40B4-BE49-F238E27FC236}">
                <a16:creationId xmlns:a16="http://schemas.microsoft.com/office/drawing/2014/main" id="{F09EE94E-43FD-41E6-30CE-66A777CE7C0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9532" r="2" b="9024"/>
          <a:stretch>
            <a:fillRect/>
          </a:stretch>
        </p:blipFill>
        <p:spPr>
          <a:xfrm>
            <a:off x="279143" y="3548095"/>
            <a:ext cx="5221625" cy="3010397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92583" y="2645922"/>
            <a:ext cx="4434721" cy="3710427"/>
          </a:xfrm>
        </p:spPr>
        <p:txBody>
          <a:bodyPr anchor="t">
            <a:normAutofit/>
          </a:bodyPr>
          <a:lstStyle/>
          <a:p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Maps environmental variables across space</a:t>
            </a:r>
          </a:p>
          <a:p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Estimates exposure at unsampled locations</a:t>
            </a:r>
          </a:p>
          <a:p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Assumes nearby values are more alike</a:t>
            </a:r>
          </a:p>
          <a:p>
            <a:pPr marL="0" indent="0">
              <a:buNone/>
            </a:pPr>
            <a:endParaRPr lang="en-US" sz="2000">
              <a:solidFill>
                <a:schemeClr val="tx1">
                  <a:alpha val="80000"/>
                </a:schemeClr>
              </a:solidFill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3893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B47A3059-69F2-4E12-ACD8-A5FE281919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45654" y="991443"/>
            <a:ext cx="4603001" cy="1087819"/>
          </a:xfrm>
        </p:spPr>
        <p:txBody>
          <a:bodyPr anchor="b">
            <a:normAutofit/>
          </a:bodyPr>
          <a:lstStyle/>
          <a:p>
            <a:r>
              <a:rPr lang="en-US" sz="3100"/>
              <a:t>Regression Modeling (Logistic, Poisson, GLMM)</a:t>
            </a:r>
          </a:p>
        </p:txBody>
      </p:sp>
      <p:pic>
        <p:nvPicPr>
          <p:cNvPr id="5" name="Picture 4" descr="Diagram&#10;&#10;AI-generated content may be incorrect.">
            <a:extLst>
              <a:ext uri="{FF2B5EF4-FFF2-40B4-BE49-F238E27FC236}">
                <a16:creationId xmlns:a16="http://schemas.microsoft.com/office/drawing/2014/main" id="{B24E7201-3972-7DB5-78E3-412EA06CE6B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68" b="1"/>
          <a:stretch>
            <a:fillRect/>
          </a:stretch>
        </p:blipFill>
        <p:spPr>
          <a:xfrm>
            <a:off x="443345" y="1294364"/>
            <a:ext cx="6250063" cy="4213917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33AE4636-AEEC-45D6-84D4-7AC2DA48EC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383398" y="38793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D9CE0F4-2EB2-4F1F-8AAC-DB3571D9FE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45655" y="2285541"/>
            <a:ext cx="452628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45654" y="2684095"/>
            <a:ext cx="4603001" cy="3492868"/>
          </a:xfrm>
        </p:spPr>
        <p:txBody>
          <a:bodyPr>
            <a:normAutofit/>
          </a:bodyPr>
          <a:lstStyle/>
          <a:p>
            <a:r>
              <a:rPr lang="en-US" sz="1800" dirty="0"/>
              <a:t>Explores associations between environment and disease</a:t>
            </a:r>
          </a:p>
          <a:p>
            <a:r>
              <a:rPr lang="en-US" sz="1800" dirty="0"/>
              <a:t>Logistic: yes/no outcomes; Poisson: counts</a:t>
            </a:r>
          </a:p>
          <a:p>
            <a:r>
              <a:rPr lang="en-US" sz="1800" dirty="0"/>
              <a:t>GLMM: includes random effects for clustering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4E2ED6F9-63C3-4A8D-9BB4-1EA62533B6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6D72081E-AD41-4FBB-B02B-698A68DBCA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4218905"/>
            <a:ext cx="11167447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1560" y="4495466"/>
            <a:ext cx="3611880" cy="153619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200"/>
              <a:t>Time-Series &amp; Lagged Climate Models</a:t>
            </a:r>
          </a:p>
        </p:txBody>
      </p:sp>
      <p:pic>
        <p:nvPicPr>
          <p:cNvPr id="7" name="Picture 6" descr="Chart, scatter chart&#10;&#10;AI-generated content may be incorrect.">
            <a:extLst>
              <a:ext uri="{FF2B5EF4-FFF2-40B4-BE49-F238E27FC236}">
                <a16:creationId xmlns:a16="http://schemas.microsoft.com/office/drawing/2014/main" id="{D31C684B-1A9A-C481-0F10-0A07E539C97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16" b="16176"/>
          <a:stretch>
            <a:fillRect/>
          </a:stretch>
        </p:blipFill>
        <p:spPr>
          <a:xfrm>
            <a:off x="20" y="10"/>
            <a:ext cx="12191980" cy="3994473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716248AD-805F-41BF-9B57-FC53E5B32F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491151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F82758F-B2B3-4F0A-BB90-4BFFEDD166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43541" y="5254418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95826" y="4495466"/>
            <a:ext cx="6061022" cy="1536192"/>
          </a:xfrm>
        </p:spPr>
        <p:txBody>
          <a:bodyPr anchor="ctr">
            <a:normAutofit/>
          </a:bodyPr>
          <a:lstStyle/>
          <a:p>
            <a:r>
              <a:rPr lang="en-US" sz="1800" dirty="0"/>
              <a:t>Studies delayed effects of climate on infections</a:t>
            </a:r>
          </a:p>
          <a:p>
            <a:r>
              <a:rPr lang="en-US" sz="1800" dirty="0"/>
              <a:t>Includes lagged predictors like rainfall months before</a:t>
            </a:r>
          </a:p>
          <a:p>
            <a:r>
              <a:rPr lang="en-US" sz="1800" dirty="0"/>
              <a:t>Uses GAMs and distributed lag models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0A5E6C-408B-8BEF-305D-7D2C07AFA9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CD63FF-555B-DE21-BDFA-A3F8400E3D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Considerations for NTM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A0968C-CFCB-A607-0A7F-5C3758F6AE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Dealing with both environmental and host effects</a:t>
            </a:r>
          </a:p>
          <a:p>
            <a:endParaRPr lang="en-US" dirty="0"/>
          </a:p>
          <a:p>
            <a:r>
              <a:rPr lang="en-US" dirty="0"/>
              <a:t>Time lag between environmental exposure and disease unknown.</a:t>
            </a:r>
          </a:p>
          <a:p>
            <a:endParaRPr lang="en-US" dirty="0"/>
          </a:p>
          <a:p>
            <a:r>
              <a:rPr lang="en-US" dirty="0"/>
              <a:t>Variable selection: we have so many climate variables…which are important?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388704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14b77578-9773-42d5-8507-251ca2dc2b06}" enabled="0" method="" siteId="{14b77578-9773-42d5-8507-251ca2dc2b06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283</Words>
  <Application>Microsoft Office PowerPoint</Application>
  <PresentationFormat>Widescreen</PresentationFormat>
  <Paragraphs>38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Spatiotemporal Epidemiology Methods</vt:lpstr>
      <vt:lpstr>What is Spatiotemporal Epidemiology?</vt:lpstr>
      <vt:lpstr>Core Spatiotemporal Methods</vt:lpstr>
      <vt:lpstr>Cluster Detection with Spatial Scan Statistics (SaTScan)</vt:lpstr>
      <vt:lpstr>Multi-Method Comparison &amp; Flexible Cluster Tools</vt:lpstr>
      <vt:lpstr>GIS Mapping &amp; Spatial Interpolation (Kriging)</vt:lpstr>
      <vt:lpstr>Regression Modeling (Logistic, Poisson, GLMM)</vt:lpstr>
      <vt:lpstr>Time-Series &amp; Lagged Climate Models</vt:lpstr>
      <vt:lpstr>Considerations for NTM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Mercaldo, Rachel (NIH/NIAID) [E]</dc:creator>
  <cp:keywords/>
  <dc:description>generated using python-pptx</dc:description>
  <cp:lastModifiedBy>Mercaldo, Rachel (NIH/NIAID) [E]</cp:lastModifiedBy>
  <cp:revision>6</cp:revision>
  <dcterms:created xsi:type="dcterms:W3CDTF">2013-01-27T09:14:16Z</dcterms:created>
  <dcterms:modified xsi:type="dcterms:W3CDTF">2025-08-28T19:02:52Z</dcterms:modified>
  <cp:category/>
</cp:coreProperties>
</file>